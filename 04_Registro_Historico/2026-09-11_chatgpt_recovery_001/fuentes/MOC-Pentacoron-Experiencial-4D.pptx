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7df10f80844d80" /><Relationship Type="http://schemas.openxmlformats.org/officeDocument/2006/relationships/extended-properties" Target="/docProps/app.xml" Id="Rb4af85829ebe4c99" /><Relationship Type="http://schemas.openxmlformats.org/officeDocument/2006/relationships/officeDocument" Target="/ppt/presentation.xml" Id="R9e0db99be56640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68d01065de4735"/>
  </p:sldMasterIdLst>
  <p:notesMasterIdLst>
    <p:notesMasterId xmlns:r="http://schemas.openxmlformats.org/officeDocument/2006/relationships" r:id="R23c92878c1c5458b"/>
  </p:notesMasterIdLst>
  <p:sldIdLst>
    <p:sldId xmlns:r="http://schemas.openxmlformats.org/officeDocument/2006/relationships" id="256" r:id="R2bcc8666a07547b0"/>
    <p:sldId xmlns:r="http://schemas.openxmlformats.org/officeDocument/2006/relationships" id="257" r:id="R4e58c240e56947fa"/>
    <p:sldId xmlns:r="http://schemas.openxmlformats.org/officeDocument/2006/relationships" id="258" r:id="R1108ae52901c42c4"/>
    <p:sldId xmlns:r="http://schemas.openxmlformats.org/officeDocument/2006/relationships" id="259" r:id="R8dbd3a6e91304778"/>
    <p:sldId xmlns:r="http://schemas.openxmlformats.org/officeDocument/2006/relationships" id="260" r:id="R08243861d86e4b2a"/>
    <p:sldId xmlns:r="http://schemas.openxmlformats.org/officeDocument/2006/relationships" id="261" r:id="R19b4204ddf8741cb"/>
    <p:sldId xmlns:r="http://schemas.openxmlformats.org/officeDocument/2006/relationships" id="262" r:id="R307f2fbfd3444aab"/>
    <p:sldId xmlns:r="http://schemas.openxmlformats.org/officeDocument/2006/relationships" id="263" r:id="R6e6987ca901149d4"/>
    <p:sldId xmlns:r="http://schemas.openxmlformats.org/officeDocument/2006/relationships" id="264" r:id="R16bf3c1a05d34af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2e06a20f2b4f79" /><Relationship Type="http://schemas.openxmlformats.org/officeDocument/2006/relationships/slideMaster" Target="/ppt/slideMasters/slideMaster1.xml" Id="R4668d01065de4735" /><Relationship Type="http://schemas.openxmlformats.org/officeDocument/2006/relationships/notesMaster" Target="/ppt/notesMasters/notesMaster1.xml" Id="R23c92878c1c5458b" /><Relationship Type="http://schemas.openxmlformats.org/officeDocument/2006/relationships/presProps" Target="/ppt/presProps.xml" Id="Rdbb6751f9b6a4b18" /><Relationship Type="http://schemas.openxmlformats.org/officeDocument/2006/relationships/tableStyles" Target="/ppt/tableStyles.xml" Id="R2ed4b0d7bbff49b1" /><Relationship Type="http://schemas.openxmlformats.org/officeDocument/2006/relationships/slide" Target="/ppt/slides/slide1.xml" Id="R2bcc8666a07547b0" /><Relationship Type="http://schemas.openxmlformats.org/officeDocument/2006/relationships/slide" Target="/ppt/slides/slide2.xml" Id="R4e58c240e56947fa" /><Relationship Type="http://schemas.openxmlformats.org/officeDocument/2006/relationships/slide" Target="/ppt/slides/slide3.xml" Id="R1108ae52901c42c4" /><Relationship Type="http://schemas.openxmlformats.org/officeDocument/2006/relationships/slide" Target="/ppt/slides/slide4.xml" Id="R8dbd3a6e91304778" /><Relationship Type="http://schemas.openxmlformats.org/officeDocument/2006/relationships/slide" Target="/ppt/slides/slide5.xml" Id="R08243861d86e4b2a" /><Relationship Type="http://schemas.openxmlformats.org/officeDocument/2006/relationships/slide" Target="/ppt/slides/slide6.xml" Id="R19b4204ddf8741cb" /><Relationship Type="http://schemas.openxmlformats.org/officeDocument/2006/relationships/slide" Target="/ppt/slides/slide7.xml" Id="R307f2fbfd3444aab" /><Relationship Type="http://schemas.openxmlformats.org/officeDocument/2006/relationships/slide" Target="/ppt/slides/slide8.xml" Id="R6e6987ca901149d4" /><Relationship Type="http://schemas.openxmlformats.org/officeDocument/2006/relationships/slide" Target="/ppt/slides/slide9.xml" Id="R16bf3c1a05d34a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23599bd7da47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2e95bdf0994426" /><Relationship Type="http://schemas.openxmlformats.org/officeDocument/2006/relationships/notesMaster" Target="/ppt/notesMasters/notesMaster1.xml" Id="Rcae0132f92094e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44c75bbbf34432" /><Relationship Type="http://schemas.openxmlformats.org/officeDocument/2006/relationships/notesMaster" Target="/ppt/notesMasters/notesMaster1.xml" Id="R977ffcb25eb945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10a65fcdfd4fc6" /><Relationship Type="http://schemas.openxmlformats.org/officeDocument/2006/relationships/notesMaster" Target="/ppt/notesMasters/notesMaster1.xml" Id="R29c7445f444f42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614a07ee284769" /><Relationship Type="http://schemas.openxmlformats.org/officeDocument/2006/relationships/notesMaster" Target="/ppt/notesMasters/notesMaster1.xml" Id="Rc868a2c47ad747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9fb701b05f42dc" /><Relationship Type="http://schemas.openxmlformats.org/officeDocument/2006/relationships/notesMaster" Target="/ppt/notesMasters/notesMaster1.xml" Id="R6c56592a72bf41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e13d18e0f8457b" /><Relationship Type="http://schemas.openxmlformats.org/officeDocument/2006/relationships/notesMaster" Target="/ppt/notesMasters/notesMaster1.xml" Id="R7f7fa22ab1414d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dfac59d36647ca" /><Relationship Type="http://schemas.openxmlformats.org/officeDocument/2006/relationships/notesMaster" Target="/ppt/notesMasters/notesMaster1.xml" Id="Rd85bba5fc82348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d7a49796ed4604" /><Relationship Type="http://schemas.openxmlformats.org/officeDocument/2006/relationships/notesMaster" Target="/ppt/notesMasters/notesMaster1.xml" Id="Ra11827535c6c41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6fa28730f4473f" /><Relationship Type="http://schemas.openxmlformats.org/officeDocument/2006/relationships/notesMaster" Target="/ppt/notesMasters/notesMaster1.xml" Id="Rf9f506130bdc42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cuarta dimensión no puede observarse directamente en una diapositiva. Esta imagen usa proyección, transparencias y rastros para hacerla pensable.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generado para esta presentación; sin fuente externa.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Primera etapa del despliegue: aparecen únicamente los cinco componentes. No introducir todavía evaluación ni resultado.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Segunda etapa: aparece G/TrueSelf como centroide. Recalcar que es local, temporal y no clínico.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tensión se calcula una sola vez a partir de la representación embebida y el centro integrador.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usar la firma histórica Phi(M,O,K) como vigente. Rψ_v1 queda únicamente como antecedente.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Corrección importante: Pi5 no produce directamente Phi_feedback. El feedback es salida de Phi.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Xi sigue siendo distinto de TrueSelf. Cψ no es obediencia: representa elección activa dentro del alcance formal.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diapositiva es la base para explicar por qué una imagen 4D siempre es una proyección.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Cierre: la separación de tipos es el mensaje central. Adapt/Unity no se presentan aquí como métricas calculadas.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5cd09af91c4a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e5e5b4b8af46d5" /><Relationship Type="http://schemas.openxmlformats.org/officeDocument/2006/relationships/slideLayout" Target="/ppt/slideLayouts/slideLayout1.xml" Id="Ra64b02e8410d42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4b02e8410d42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9395707d246b2" /><Relationship Type="http://schemas.openxmlformats.org/officeDocument/2006/relationships/image" Target="/ppt/media/image.png" Id="Rfc09b83fccd8499f" /><Relationship Type="http://schemas.openxmlformats.org/officeDocument/2006/relationships/notesSlide" Target="/ppt/notesSlides/notesSlide1.xml" Id="R1cbb8269e2d944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e42cab92b4217" /><Relationship Type="http://schemas.openxmlformats.org/officeDocument/2006/relationships/notesSlide" Target="/ppt/notesSlides/notesSlide2.xml" Id="Rc7b71537fef943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83cbbb355443e7" /><Relationship Type="http://schemas.openxmlformats.org/officeDocument/2006/relationships/notesSlide" Target="/ppt/notesSlides/notesSlide3.xml" Id="Rb09a794d7eb741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1a341b6044e08" /><Relationship Type="http://schemas.openxmlformats.org/officeDocument/2006/relationships/notesSlide" Target="/ppt/notesSlides/notesSlide4.xml" Id="Rc633819ca4204c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39183159f4177" /><Relationship Type="http://schemas.openxmlformats.org/officeDocument/2006/relationships/notesSlide" Target="/ppt/notesSlides/notesSlide5.xml" Id="R30609b1842ed48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8d33e3b5b4bd2" /><Relationship Type="http://schemas.openxmlformats.org/officeDocument/2006/relationships/notesSlide" Target="/ppt/notesSlides/notesSlide6.xml" Id="Rc88912b7269a40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5f769f4454c0d" /><Relationship Type="http://schemas.openxmlformats.org/officeDocument/2006/relationships/notesSlide" Target="/ppt/notesSlides/notesSlide7.xml" Id="Re1b24974180949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25a8d51e74d06" /><Relationship Type="http://schemas.openxmlformats.org/officeDocument/2006/relationships/image" Target="/ppt/media/image2.png" Id="R785b5a891c684b5c" /><Relationship Type="http://schemas.openxmlformats.org/officeDocument/2006/relationships/notesSlide" Target="/ppt/notesSlides/notesSlide8.xml" Id="R18d800267eeb42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adfea409e4d30" /><Relationship Type="http://schemas.openxmlformats.org/officeDocument/2006/relationships/notesSlide" Target="/ppt/notesSlides/notesSlide9.xml" Id="Rf07698893a7b43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9b83fccd8499f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567AE-B6F5-4BB6-ACCC-7C9B99FA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2390E-57BB-4B96-B8EA-C64F0895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EE7DD"/>
                </a:solidFill>
              </a:defRPr>
            </a:pPr>
            <a:r>
              <a:rPr sz="1200" b="1">
                <a:solidFill>
                  <a:srgbClr val="3EE7DD"/>
                </a:solidFill>
              </a:rPr>
              <a:t>MOC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1A71C9-6E49-4F72-AC29-7D4A2DD0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533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4F7FB"/>
                </a:solidFill>
              </a:defRPr>
            </a:pPr>
            <a:r>
              <a:rPr sz="4050" b="1">
                <a:solidFill>
                  <a:srgbClr val="F4F7FB"/>
                </a:solidFill>
              </a:rPr>
              <a:t>Pentacoron</a:t>
            </a:r>
          </a:p>
          <a:p xmlns:a="http://schemas.openxmlformats.org/drawingml/2006/main">
            <a:pPr algn="l">
              <a:defRPr sz="4050" b="1">
                <a:solidFill>
                  <a:srgbClr val="F4F7FB"/>
                </a:solidFill>
              </a:defRPr>
            </a:pPr>
            <a:r>
              <a:rPr sz="4050" b="1">
                <a:solidFill>
                  <a:srgbClr val="F4F7FB"/>
                </a:solidFill>
              </a:rPr>
              <a:t>experiencial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14758-0FAC-4DF3-885E-4DB6382B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33625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2DEEB"/>
                </a:solidFill>
              </a:defRPr>
            </a:pPr>
            <a:r>
              <a:rPr sz="1725" b="0">
                <a:solidFill>
                  <a:srgbClr val="D2DEEB"/>
                </a:solidFill>
              </a:rPr>
              <a:t>Una proyección visual de una estructura 4D — no una fotografía literal de la cuarta dimensión.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074C4-F69A-4CB3-9915-B9C2CD41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685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3DF91"/>
                </a:solidFill>
              </a:defRPr>
            </a:pPr>
            <a:r>
              <a:rPr sz="1800" b="1">
                <a:solidFill>
                  <a:srgbClr val="53DF91"/>
                </a:solidFill>
              </a:rPr>
              <a:t>P · Eaf · Act · V · S  →  G / TrueSelf</a:t>
            </a:r>
          </a:p>
        </p:txBody>
      </p:sp>
    </p:spTree>
    <p:extLst>
      <p:ext uri="{BB962C8B-B14F-4D97-AF65-F5344CB8AC3E}">
        <p14:creationId xmlns:p14="http://schemas.microsoft.com/office/powerpoint/2010/main" val="372416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9324C0-E943-4DC4-BDEA-8544359A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E7DD"/>
                </a:solidFill>
              </a:defRPr>
            </a:pPr>
            <a:r>
              <a:rPr sz="1050" b="1">
                <a:solidFill>
                  <a:srgbClr val="3EE7DD"/>
                </a:solidFill>
              </a:rPr>
              <a:t>IDEA CLAVE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568F73-3B0B-4A85-9055-943CCE16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Cinco componentes forman una sola configuración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B20CE-B4F3-4FA2-A55C-0EBF7CAA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2C8"/>
                </a:solidFill>
              </a:defRPr>
            </a:pPr>
            <a:r>
              <a:rPr sz="1425" b="0">
                <a:solidFill>
                  <a:srgbClr val="9FB2C8"/>
                </a:solidFill>
              </a:rPr>
              <a:t>Cada vértice conserva su identidad; las relaciones importan tanto como los puntos.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4CCA99-407B-4357-9FA6-5A5AD832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990" y="3305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8C41E-F9CC-4938-A24F-898349FC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85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3" name=""/>
          <p:cNvCxnSpPr>
            <a:stCxn xmlns:a="http://schemas.openxmlformats.org/drawingml/2006/main" id="4" idx="7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6445771" y="2134756"/>
            <a:ext cx="1712189" cy="117878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F2033-77E7-46DE-AC0D-1742FA00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990" y="3305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1CBF40-2AC4-46E3-9D43-AAEEB0FA6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990" y="3419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6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6454140" y="3333750"/>
            <a:ext cx="337185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9DC05D-E0C3-4BBE-8EF8-8FAC9346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990" y="3305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DFAABF-DA12-4B73-AB55-18697CDA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090" y="4829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9" name=""/>
          <p:cNvCxnSpPr>
            <a:stCxn xmlns:a="http://schemas.openxmlformats.org/drawingml/2006/main" id="10" idx="5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445771" y="3353956"/>
            <a:ext cx="2664689" cy="148358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8C0D9-0D3B-49E9-9912-E0D8DF18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990" y="3305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8BF780-7C14-436C-B22B-341F3E9B7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4829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2" name=""/>
          <p:cNvCxnSpPr>
            <a:stCxn xmlns:a="http://schemas.openxmlformats.org/drawingml/2006/main" id="13" idx="5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445771" y="3353956"/>
            <a:ext cx="683489" cy="148358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91C53-AD45-4C22-B5BE-60ED62CD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85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F3AD17-DFC8-44C6-8B2E-2E7BFAB8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990" y="3419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5" name=""/>
          <p:cNvCxnSpPr>
            <a:stCxn xmlns:a="http://schemas.openxmlformats.org/drawingml/2006/main" id="16" idx="5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198371" y="2134756"/>
            <a:ext cx="1635989" cy="129308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F6151-5AF1-4059-B76F-EAE87AC7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85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33749B-8ABA-4815-BB7F-850FA1B2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090" y="4829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8" name=""/>
          <p:cNvCxnSpPr>
            <a:stCxn xmlns:a="http://schemas.openxmlformats.org/drawingml/2006/main" id="19" idx="4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178165" y="2143125"/>
            <a:ext cx="952500" cy="2686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8A508-5261-4DF0-B1AD-DD632D43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590" y="20859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140F3E-23C5-418E-8019-879BE371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4829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1" name=""/>
          <p:cNvCxnSpPr>
            <a:stCxn xmlns:a="http://schemas.openxmlformats.org/drawingml/2006/main" id="22" idx="4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7149465" y="2143125"/>
            <a:ext cx="1028700" cy="2686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5502E6-4603-402C-90EC-03BDCD11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990" y="3419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FCA916-8C28-4EE7-A32D-9B7D8C8F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090" y="4829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4" name=""/>
          <p:cNvCxnSpPr>
            <a:stCxn xmlns:a="http://schemas.openxmlformats.org/drawingml/2006/main" id="25" idx="3"/>
            <a:endCxn xmlns:a="http://schemas.openxmlformats.org/drawingml/2006/main" id="26" idx="7"/>
          </p:cNvCxnSpPr>
          <p:nvPr/>
        </p:nvCxnSpPr>
        <p:spPr>
          <a:xfrm xmlns:a="http://schemas.openxmlformats.org/drawingml/2006/main" flipH="1">
            <a:off x="9150871" y="3468256"/>
            <a:ext cx="683489" cy="136928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AA37DA-4D8E-439B-BEB7-1A3FF51C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990" y="3419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721F61-6370-4EA2-9235-F2EE58C8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4829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7" name=""/>
          <p:cNvCxnSpPr>
            <a:stCxn xmlns:a="http://schemas.openxmlformats.org/drawingml/2006/main" id="28" idx="3"/>
            <a:endCxn xmlns:a="http://schemas.openxmlformats.org/drawingml/2006/main" id="29" idx="7"/>
          </p:cNvCxnSpPr>
          <p:nvPr/>
        </p:nvCxnSpPr>
        <p:spPr>
          <a:xfrm xmlns:a="http://schemas.openxmlformats.org/drawingml/2006/main" flipH="1">
            <a:off x="7169671" y="3468256"/>
            <a:ext cx="2664689" cy="136928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5AEA17-8F40-44F1-8000-37867DB9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090" y="4829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691415-75FB-4791-9741-16C682F3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0890" y="48291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0" name=""/>
          <p:cNvCxnSpPr>
            <a:stCxn xmlns:a="http://schemas.openxmlformats.org/drawingml/2006/main" id="31" idx="2"/>
            <a:endCxn xmlns:a="http://schemas.openxmlformats.org/drawingml/2006/main" id="32" idx="6"/>
          </p:cNvCxnSpPr>
          <p:nvPr/>
        </p:nvCxnSpPr>
        <p:spPr>
          <a:xfrm xmlns:a="http://schemas.openxmlformats.org/drawingml/2006/main" flipH="1">
            <a:off x="7178040" y="4857750"/>
            <a:ext cx="1924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7BBDE2-B729-4681-8E84-EFD0E281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685" y="3318510"/>
            <a:ext cx="487680" cy="48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7D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6AFC38-47BA-4D10-816E-41589518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885" y="388239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perspectiva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A662DE-4B68-4822-A2A2-ED79DCC7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4285" y="2099310"/>
            <a:ext cx="487680" cy="48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89840-B10D-47A9-A714-B07CDAAF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266319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clima afectivo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25218EB-39B0-4401-B829-D17F440E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685" y="3432810"/>
            <a:ext cx="487680" cy="48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5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8F26C3-1833-4A1D-A2FD-B7DACDF2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85" y="399669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acción interna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8CC962-5536-4CC5-A44F-1E23F600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6785" y="4842510"/>
            <a:ext cx="487680" cy="48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AB10DF-7318-4787-91A1-B233778B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1985" y="540639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valor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E5F52B-98B8-4684-B633-1F5AF34C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5585" y="4842510"/>
            <a:ext cx="487680" cy="48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6952A9-5439-4C19-872C-50E692B4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0785" y="540639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situación</a:t>
            </a:r>
          </a:p>
        </p:txBody>
      </p:sp>
      <p:cxnSp>
        <p:nvCxnSpPr>
          <p:cNvPr id="101" name=""/>
          <p:cNvCxnSpPr>
            <a:stCxn xmlns:a="http://schemas.openxmlformats.org/drawingml/2006/main" id="34" idx="7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V="1">
            <a:off x="6277946" y="2515571"/>
            <a:ext cx="1407758" cy="8743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02" name=""/>
          <p:cNvCxnSpPr>
            <a:stCxn xmlns:a="http://schemas.openxmlformats.org/drawingml/2006/main" id="34" idx="6"/>
            <a:endCxn xmlns:a="http://schemas.openxmlformats.org/drawingml/2006/main" id="38" idx="2"/>
          </p:cNvCxnSpPr>
          <p:nvPr/>
        </p:nvCxnSpPr>
        <p:spPr>
          <a:xfrm xmlns:a="http://schemas.openxmlformats.org/drawingml/2006/main">
            <a:off x="6349365" y="3562350"/>
            <a:ext cx="294132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03" name=""/>
          <p:cNvCxnSpPr>
            <a:stCxn xmlns:a="http://schemas.openxmlformats.org/drawingml/2006/main" id="34" idx="5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6277946" y="3734771"/>
            <a:ext cx="2360258" cy="11791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04" name=""/>
          <p:cNvCxnSpPr>
            <a:stCxn xmlns:a="http://schemas.openxmlformats.org/drawingml/2006/main" id="34" idx="5"/>
            <a:endCxn xmlns:a="http://schemas.openxmlformats.org/drawingml/2006/main" id="42" idx="0"/>
          </p:cNvCxnSpPr>
          <p:nvPr/>
        </p:nvCxnSpPr>
        <p:spPr>
          <a:xfrm xmlns:a="http://schemas.openxmlformats.org/drawingml/2006/main">
            <a:off x="6277946" y="3734771"/>
            <a:ext cx="551479" cy="110773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05" name=""/>
          <p:cNvCxnSpPr>
            <a:stCxn xmlns:a="http://schemas.openxmlformats.org/drawingml/2006/main" id="36" idx="5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030546" y="2515571"/>
            <a:ext cx="1331558" cy="9886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06" name=""/>
          <p:cNvCxnSpPr>
            <a:stCxn xmlns:a="http://schemas.openxmlformats.org/drawingml/2006/main" id="36" idx="4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7858125" y="2586990"/>
            <a:ext cx="952500" cy="225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07" name=""/>
          <p:cNvCxnSpPr>
            <a:stCxn xmlns:a="http://schemas.openxmlformats.org/drawingml/2006/main" id="36" idx="4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6829425" y="2586990"/>
            <a:ext cx="1028700" cy="225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08" name=""/>
          <p:cNvCxnSpPr>
            <a:stCxn xmlns:a="http://schemas.openxmlformats.org/drawingml/2006/main" id="38" idx="3"/>
            <a:endCxn xmlns:a="http://schemas.openxmlformats.org/drawingml/2006/main" id="40" idx="7"/>
          </p:cNvCxnSpPr>
          <p:nvPr/>
        </p:nvCxnSpPr>
        <p:spPr>
          <a:xfrm xmlns:a="http://schemas.openxmlformats.org/drawingml/2006/main" flipH="1">
            <a:off x="8983046" y="3849071"/>
            <a:ext cx="379058" cy="10648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09" name=""/>
          <p:cNvCxnSpPr>
            <a:stCxn xmlns:a="http://schemas.openxmlformats.org/drawingml/2006/main" id="38" idx="3"/>
            <a:endCxn xmlns:a="http://schemas.openxmlformats.org/drawingml/2006/main" id="42" idx="7"/>
          </p:cNvCxnSpPr>
          <p:nvPr/>
        </p:nvCxnSpPr>
        <p:spPr>
          <a:xfrm xmlns:a="http://schemas.openxmlformats.org/drawingml/2006/main" flipH="1">
            <a:off x="7001846" y="3849071"/>
            <a:ext cx="2360258" cy="10648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10" name=""/>
          <p:cNvCxnSpPr>
            <a:stCxn xmlns:a="http://schemas.openxmlformats.org/drawingml/2006/main" id="40" idx="2"/>
            <a:endCxn xmlns:a="http://schemas.openxmlformats.org/drawingml/2006/main" id="42" idx="6"/>
          </p:cNvCxnSpPr>
          <p:nvPr/>
        </p:nvCxnSpPr>
        <p:spPr>
          <a:xfrm xmlns:a="http://schemas.openxmlformats.org/drawingml/2006/main" flipH="1">
            <a:off x="7073265" y="5086350"/>
            <a:ext cx="14935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93E44E-0721-43AC-A7C0-98C2B8FD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7FB"/>
                </a:solidFill>
              </a:defRPr>
            </a:pPr>
            <a:r>
              <a:rPr sz="3000" b="1">
                <a:solidFill>
                  <a:srgbClr val="F4F7FB"/>
                </a:solidFill>
              </a:rPr>
              <a:t>Pi5ψ(t)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03A9369-FD65-4920-B75F-D0397156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194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EE7DD"/>
                </a:solidFill>
              </a:defRPr>
            </a:pPr>
            <a:r>
              <a:rPr sz="1875" b="1">
                <a:solidFill>
                  <a:srgbClr val="3EE7DD"/>
                </a:solidFill>
              </a:rPr>
              <a:t>⟨ Pψ, Eafψ, Actψ, Vψ, Sψ ⟩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F5B024-1990-476B-89EC-58F44CAA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4095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FB2C8"/>
                </a:solidFill>
              </a:defRPr>
            </a:pPr>
            <a:r>
              <a:rPr sz="1725" b="0">
                <a:solidFill>
                  <a:srgbClr val="9FB2C8"/>
                </a:solidFill>
              </a:rPr>
              <a:t>No es una lista plana. Es una configuración relacional proyectada desde una estructura de mayor dimensión.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FEBB4C-1A72-46DD-9D6B-6904DF3B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809E"/>
                </a:solidFill>
              </a:defRPr>
            </a:pPr>
            <a:r>
              <a:rPr sz="900" b="0">
                <a:solidFill>
                  <a:srgbClr val="64809E"/>
                </a:solidFill>
              </a:rPr>
              <a:t>MOC · Pentacoron experiencial · 02</a:t>
            </a:r>
          </a:p>
        </p:txBody>
      </p:sp>
    </p:spTree>
    <p:extLst>
      <p:ext uri="{BB962C8B-B14F-4D97-AF65-F5344CB8AC3E}">
        <p14:creationId xmlns:p14="http://schemas.microsoft.com/office/powerpoint/2010/main" val="5918301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949484-EFCB-4E87-9C9E-613EAF74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E7DD"/>
                </a:solidFill>
              </a:defRPr>
            </a:pPr>
            <a:r>
              <a:rPr sz="1050" b="1">
                <a:solidFill>
                  <a:srgbClr val="3EE7DD"/>
                </a:solidFill>
              </a:rPr>
              <a:t>CENTRO LOCAL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FC03C-7638-4FDD-9C5C-99756C04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Gψ integra la configuración sin volverse autoridad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09C11-43AA-4938-9555-27A04242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2C8"/>
                </a:solidFill>
              </a:defRPr>
            </a:pPr>
            <a:r>
              <a:rPr sz="1425" b="0">
                <a:solidFill>
                  <a:srgbClr val="9FB2C8"/>
                </a:solidFill>
              </a:rPr>
              <a:t>TrueSelfψ(t) ≡ Gψ(t): un punto local calculado sobre Pi5ψ(t), no una esencia universal.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8B3B7-7A20-4FE8-AC4D-8025C30D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801" y="34385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E25E4-1A6F-4600-A0C0-B68CB714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216" y="218884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4" idx="7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6076582" y="2237626"/>
            <a:ext cx="1756004" cy="120926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506D5A-B164-4546-B0EE-759F2624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801" y="34385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F95438-F325-4A83-9965-14F040DE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526" y="355568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6084951" y="3467100"/>
            <a:ext cx="3457575" cy="117157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7C201-B443-46BE-BA76-9E014037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801" y="34385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150EC-F3E1-4989-9B7F-0616D6B3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529" y="5000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10" idx="5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076582" y="3487306"/>
            <a:ext cx="2732317" cy="152168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6D67C-3A4D-4C8E-9348-40848705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801" y="34385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0B35AB-E0FD-4BA3-A819-46091A4A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799" y="5000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13" idx="5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076582" y="3487306"/>
            <a:ext cx="701587" cy="152168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39AD90-2965-4D01-B4C8-E894FA9D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216" y="218884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A0FFC0-7E4A-4EC9-96E2-699B16C4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526" y="355568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16" idx="5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872997" y="2237626"/>
            <a:ext cx="1677899" cy="132642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F337D6-12EB-4874-8529-DDE6CB9A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216" y="218884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234AE3-8D47-492E-B140-88327FBA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529" y="5000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19" idx="4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7852791" y="2245995"/>
            <a:ext cx="976313" cy="275463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4CBE7D-CC10-4AE6-8C0B-20C80DCB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4216" y="218884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BE4B9A-FDDC-458D-9044-41F60D5C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799" y="5000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8" name=""/>
          <p:cNvCxnSpPr>
            <a:stCxn xmlns:a="http://schemas.openxmlformats.org/drawingml/2006/main" id="22" idx="4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6798374" y="2245995"/>
            <a:ext cx="1054417" cy="275463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5D5423-C37F-4360-8C0E-38FB56A0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526" y="355568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AC31ED-1D3F-4020-88B3-13888A7A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529" y="5000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1" name=""/>
          <p:cNvCxnSpPr>
            <a:stCxn xmlns:a="http://schemas.openxmlformats.org/drawingml/2006/main" id="25" idx="3"/>
            <a:endCxn xmlns:a="http://schemas.openxmlformats.org/drawingml/2006/main" id="26" idx="7"/>
          </p:cNvCxnSpPr>
          <p:nvPr/>
        </p:nvCxnSpPr>
        <p:spPr>
          <a:xfrm xmlns:a="http://schemas.openxmlformats.org/drawingml/2006/main" flipH="1">
            <a:off x="8849310" y="3604463"/>
            <a:ext cx="701586" cy="140453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39CE2-93E3-4A85-9381-E199310C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2526" y="3555682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19E1D1-341D-4AD8-9144-206C0F16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799" y="5000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4" name=""/>
          <p:cNvCxnSpPr>
            <a:stCxn xmlns:a="http://schemas.openxmlformats.org/drawingml/2006/main" id="28" idx="3"/>
            <a:endCxn xmlns:a="http://schemas.openxmlformats.org/drawingml/2006/main" id="29" idx="7"/>
          </p:cNvCxnSpPr>
          <p:nvPr/>
        </p:nvCxnSpPr>
        <p:spPr>
          <a:xfrm xmlns:a="http://schemas.openxmlformats.org/drawingml/2006/main" flipH="1">
            <a:off x="6818580" y="3604463"/>
            <a:ext cx="2732316" cy="1404532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3D4412-FDA0-4F4A-B97E-CC5A8C6E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0529" y="5000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1B41E1-8D38-4422-97E4-D9CB7AD7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799" y="50006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7" name=""/>
          <p:cNvCxnSpPr>
            <a:stCxn xmlns:a="http://schemas.openxmlformats.org/drawingml/2006/main" id="31" idx="2"/>
            <a:endCxn xmlns:a="http://schemas.openxmlformats.org/drawingml/2006/main" id="32" idx="6"/>
          </p:cNvCxnSpPr>
          <p:nvPr/>
        </p:nvCxnSpPr>
        <p:spPr>
          <a:xfrm xmlns:a="http://schemas.openxmlformats.org/drawingml/2006/main" flipH="1">
            <a:off x="6826949" y="5029200"/>
            <a:ext cx="197358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C0C9C0-B6A8-4BB6-AA6E-4317EBC8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399" y="3451479"/>
            <a:ext cx="499872" cy="499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7D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84B73F-AFA6-4D0F-B94C-52C1F1CA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599" y="4027551"/>
            <a:ext cx="110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perspectiva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88B1FF-5671-4804-B56C-668A1F8E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814" y="2201799"/>
            <a:ext cx="499872" cy="499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427F00-CF45-4B1A-B77F-BA404E05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0014" y="2777871"/>
            <a:ext cx="110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clima afectivo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1827C5D-6C8A-427B-BD60-49FA0C7A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3124" y="3568636"/>
            <a:ext cx="499872" cy="499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5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A69E24-D505-408C-9E19-DC7C5488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324" y="4144709"/>
            <a:ext cx="110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acción interna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D5F104-44C1-46B1-BDD0-6F51AF00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1127" y="5013579"/>
            <a:ext cx="499872" cy="499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9139A4-6F44-4239-A74B-BEFF6DB1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327" y="5589651"/>
            <a:ext cx="110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valor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5CE177-CC77-4F64-A2F3-0FBC0352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396" y="5013579"/>
            <a:ext cx="499872" cy="499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80B990-4357-41B2-87BE-1F369DF4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596" y="5589651"/>
            <a:ext cx="110947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situación</a:t>
            </a:r>
          </a:p>
        </p:txBody>
      </p:sp>
      <p:cxnSp>
        <p:nvCxnSpPr>
          <p:cNvPr id="108" name=""/>
          <p:cNvCxnSpPr>
            <a:stCxn xmlns:a="http://schemas.openxmlformats.org/drawingml/2006/main" id="34" idx="7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V="1">
            <a:off x="5905066" y="2628466"/>
            <a:ext cx="1442952" cy="89621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09" name=""/>
          <p:cNvCxnSpPr>
            <a:stCxn xmlns:a="http://schemas.openxmlformats.org/drawingml/2006/main" id="34" idx="6"/>
            <a:endCxn xmlns:a="http://schemas.openxmlformats.org/drawingml/2006/main" id="38" idx="2"/>
          </p:cNvCxnSpPr>
          <p:nvPr/>
        </p:nvCxnSpPr>
        <p:spPr>
          <a:xfrm xmlns:a="http://schemas.openxmlformats.org/drawingml/2006/main">
            <a:off x="5978271" y="3701415"/>
            <a:ext cx="3014853" cy="11715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10" name=""/>
          <p:cNvCxnSpPr>
            <a:stCxn xmlns:a="http://schemas.openxmlformats.org/drawingml/2006/main" id="34" idx="5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5905066" y="3878146"/>
            <a:ext cx="2419265" cy="120863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11" name=""/>
          <p:cNvCxnSpPr>
            <a:stCxn xmlns:a="http://schemas.openxmlformats.org/drawingml/2006/main" id="34" idx="4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5728335" y="3951351"/>
            <a:ext cx="565266" cy="113543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12" name=""/>
          <p:cNvCxnSpPr>
            <a:stCxn xmlns:a="http://schemas.openxmlformats.org/drawingml/2006/main" id="36" idx="5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701481" y="2628466"/>
            <a:ext cx="1364847" cy="101337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13" name=""/>
          <p:cNvCxnSpPr>
            <a:stCxn xmlns:a="http://schemas.openxmlformats.org/drawingml/2006/main" id="36" idx="4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7524750" y="2701671"/>
            <a:ext cx="976313" cy="231190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14" name=""/>
          <p:cNvCxnSpPr>
            <a:stCxn xmlns:a="http://schemas.openxmlformats.org/drawingml/2006/main" id="36" idx="4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6470332" y="2701671"/>
            <a:ext cx="1054418" cy="231190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15" name=""/>
          <p:cNvCxnSpPr>
            <a:stCxn xmlns:a="http://schemas.openxmlformats.org/drawingml/2006/main" id="38" idx="3"/>
            <a:endCxn xmlns:a="http://schemas.openxmlformats.org/drawingml/2006/main" id="40" idx="7"/>
          </p:cNvCxnSpPr>
          <p:nvPr/>
        </p:nvCxnSpPr>
        <p:spPr>
          <a:xfrm xmlns:a="http://schemas.openxmlformats.org/drawingml/2006/main" flipH="1">
            <a:off x="8677794" y="3995303"/>
            <a:ext cx="388534" cy="10914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16" name=""/>
          <p:cNvCxnSpPr>
            <a:stCxn xmlns:a="http://schemas.openxmlformats.org/drawingml/2006/main" id="38" idx="3"/>
            <a:endCxn xmlns:a="http://schemas.openxmlformats.org/drawingml/2006/main" id="42" idx="7"/>
          </p:cNvCxnSpPr>
          <p:nvPr/>
        </p:nvCxnSpPr>
        <p:spPr>
          <a:xfrm xmlns:a="http://schemas.openxmlformats.org/drawingml/2006/main" flipH="1">
            <a:off x="6647063" y="3995303"/>
            <a:ext cx="2419265" cy="10914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17" name=""/>
          <p:cNvCxnSpPr>
            <a:stCxn xmlns:a="http://schemas.openxmlformats.org/drawingml/2006/main" id="40" idx="2"/>
            <a:endCxn xmlns:a="http://schemas.openxmlformats.org/drawingml/2006/main" id="42" idx="6"/>
          </p:cNvCxnSpPr>
          <p:nvPr/>
        </p:nvCxnSpPr>
        <p:spPr>
          <a:xfrm xmlns:a="http://schemas.openxmlformats.org/drawingml/2006/main" flipH="1">
            <a:off x="6720268" y="5263515"/>
            <a:ext cx="153085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6B6974B-DBC4-4F71-94C7-C73637DB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0141" y="3553016"/>
            <a:ext cx="609219" cy="60921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49EEEC6-7A4F-4C1D-A527-09A310D3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341" y="4238435"/>
            <a:ext cx="121881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TrueSelf local</a:t>
            </a:r>
          </a:p>
        </p:txBody>
      </p:sp>
      <p:cxnSp>
        <p:nvCxnSpPr>
          <p:cNvPr id="120" name=""/>
          <p:cNvCxnSpPr>
            <a:stCxn xmlns:a="http://schemas.openxmlformats.org/drawingml/2006/main" id="34" idx="6"/>
            <a:endCxn xmlns:a="http://schemas.openxmlformats.org/drawingml/2006/main" id="54" idx="2"/>
          </p:cNvCxnSpPr>
          <p:nvPr/>
        </p:nvCxnSpPr>
        <p:spPr>
          <a:xfrm xmlns:a="http://schemas.openxmlformats.org/drawingml/2006/main">
            <a:off x="5978271" y="3701415"/>
            <a:ext cx="1241870" cy="15621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121" name=""/>
          <p:cNvCxnSpPr>
            <a:stCxn xmlns:a="http://schemas.openxmlformats.org/drawingml/2006/main" id="36" idx="4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7524750" y="2701671"/>
            <a:ext cx="1" cy="85134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122" name=""/>
          <p:cNvCxnSpPr>
            <a:stCxn xmlns:a="http://schemas.openxmlformats.org/drawingml/2006/main" id="38" idx="2"/>
            <a:endCxn xmlns:a="http://schemas.openxmlformats.org/drawingml/2006/main" id="54" idx="6"/>
          </p:cNvCxnSpPr>
          <p:nvPr/>
        </p:nvCxnSpPr>
        <p:spPr>
          <a:xfrm xmlns:a="http://schemas.openxmlformats.org/drawingml/2006/main" flipH="1">
            <a:off x="7829360" y="3818572"/>
            <a:ext cx="1163764" cy="3905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123" name=""/>
          <p:cNvCxnSpPr>
            <a:stCxn xmlns:a="http://schemas.openxmlformats.org/drawingml/2006/main" id="40" idx="1"/>
            <a:endCxn xmlns:a="http://schemas.openxmlformats.org/drawingml/2006/main" id="54" idx="5"/>
          </p:cNvCxnSpPr>
          <p:nvPr/>
        </p:nvCxnSpPr>
        <p:spPr>
          <a:xfrm xmlns:a="http://schemas.openxmlformats.org/drawingml/2006/main" flipH="1" flipV="1">
            <a:off x="7740142" y="4073017"/>
            <a:ext cx="584190" cy="101376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124" name=""/>
          <p:cNvCxnSpPr>
            <a:stCxn xmlns:a="http://schemas.openxmlformats.org/drawingml/2006/main" id="42" idx="7"/>
            <a:endCxn xmlns:a="http://schemas.openxmlformats.org/drawingml/2006/main" id="54" idx="3"/>
          </p:cNvCxnSpPr>
          <p:nvPr/>
        </p:nvCxnSpPr>
        <p:spPr>
          <a:xfrm xmlns:a="http://schemas.openxmlformats.org/drawingml/2006/main" flipV="1">
            <a:off x="6647063" y="4073017"/>
            <a:ext cx="662296" cy="1013767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A7C9BB-8DE9-4B04-B1F1-98CDAC94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24250" cy="2266950"/>
          </a:xfrm>
          <a:prstGeom xmlns:a="http://schemas.openxmlformats.org/drawingml/2006/main" prst="roundRect">
            <a:avLst>
              <a:gd name="adj" fmla="val 8403"/>
            </a:avLst>
          </a:prstGeom>
          <a:solidFill xmlns:a="http://schemas.openxmlformats.org/drawingml/2006/main">
            <a:srgbClr val="0D2B25"/>
          </a:solidFill>
          <a:ln xmlns:a="http://schemas.openxmlformats.org/drawingml/2006/main" w="19050">
            <a:solidFill>
              <a:srgbClr val="53DF91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E34F28B-D4F6-4D3A-B953-BD224EBA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304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53DF91"/>
                </a:solidFill>
              </a:defRPr>
            </a:pPr>
            <a:r>
              <a:rPr sz="2025" b="1">
                <a:solidFill>
                  <a:srgbClr val="53DF91"/>
                </a:solidFill>
              </a:rPr>
              <a:t>Gψ(t) :=</a:t>
            </a:r>
          </a:p>
          <a:p xmlns:a="http://schemas.openxmlformats.org/drawingml/2006/main">
            <a:pPr algn="l">
              <a:defRPr sz="2025" b="1">
                <a:solidFill>
                  <a:srgbClr val="53DF91"/>
                </a:solidFill>
              </a:defRPr>
            </a:pPr>
            <a:r>
              <a:rPr sz="2025" b="1">
                <a:solidFill>
                  <a:srgbClr val="53DF91"/>
                </a:solidFill>
              </a:rPr>
              <a:t>centroid(Pi5ψ(t))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15195E6-253F-466A-A055-A2E3E4CFE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971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7FB"/>
                </a:solidFill>
              </a:defRPr>
            </a:pPr>
            <a:r>
              <a:rPr sz="1500" b="0">
                <a:solidFill>
                  <a:srgbClr val="F4F7FB"/>
                </a:solidFill>
              </a:rPr>
              <a:t>TrueSelf describe el centro integrador local de esta configuración. No diagnostica ni define a la persona.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1EADE3-7400-4AFB-B6A2-D89C2362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809E"/>
                </a:solidFill>
              </a:defRPr>
            </a:pPr>
            <a:r>
              <a:rPr sz="900" b="0">
                <a:solidFill>
                  <a:srgbClr val="64809E"/>
                </a:solidFill>
              </a:rPr>
              <a:t>MOC · Pentacoron experiencial · 03</a:t>
            </a:r>
          </a:p>
        </p:txBody>
      </p:sp>
    </p:spTree>
    <p:extLst>
      <p:ext uri="{BB962C8B-B14F-4D97-AF65-F5344CB8AC3E}">
        <p14:creationId xmlns:p14="http://schemas.microsoft.com/office/powerpoint/2010/main" val="110021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6C313E-AED7-45DA-A7A8-3C1FFF3E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E7DD"/>
                </a:solidFill>
              </a:defRPr>
            </a:pPr>
            <a:r>
              <a:rPr sz="1050" b="1">
                <a:solidFill>
                  <a:srgbClr val="3EE7DD"/>
                </a:solidFill>
              </a:rPr>
              <a:t>TENSIÓN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CE9032-F8AF-4989-9DFD-0E9B6577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La distancia al centro se vuelve información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45C8B-1A6F-4C78-B0F1-82310614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2C8"/>
                </a:solidFill>
              </a:defRPr>
            </a:pPr>
            <a:r>
              <a:rPr sz="1425" b="0">
                <a:solidFill>
                  <a:srgbClr val="9FB2C8"/>
                </a:solidFill>
              </a:rPr>
              <a:t>Tauψ no es malestar clínico: expresa desajuste estructural dentro de la representación declarada.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E40DB5-2BF2-42DE-B0DD-C259749E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685" y="3413760"/>
            <a:ext cx="487680" cy="48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7D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503AB-8E73-4CA7-852D-64B8FEB5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885" y="397764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perspectiva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CE572E-4759-436D-BF08-B98C215C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285" y="2194560"/>
            <a:ext cx="487680" cy="48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4D1B20-B1D8-4541-B8E6-CE321C02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485" y="275844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clima afectivo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0A0F5-83F5-4DA0-B079-7A001C4D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685" y="3528060"/>
            <a:ext cx="487680" cy="48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5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AEC8C-4D90-4834-B8FE-5961115E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885" y="409194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acción interna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36B45A-B55E-4E0B-AA9C-9748BA50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5785" y="4937760"/>
            <a:ext cx="487680" cy="48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V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381C0-C5EB-42D5-B1AF-E88B2D96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0985" y="550164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valor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DC779-1D08-4EFB-9C8C-F5DA10FB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4585" y="4937760"/>
            <a:ext cx="487680" cy="487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C1686-BA83-4077-8B9D-2B95827C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785" y="5501640"/>
            <a:ext cx="109728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situación</a:t>
            </a:r>
          </a:p>
        </p:txBody>
      </p:sp>
      <p:cxnSp>
        <p:nvCxnSpPr>
          <p:cNvPr id="54" name=""/>
          <p:cNvCxnSpPr>
            <a:stCxn xmlns:a="http://schemas.openxmlformats.org/drawingml/2006/main" id="4" idx="7"/>
            <a:endCxn xmlns:a="http://schemas.openxmlformats.org/drawingml/2006/main" id="6" idx="3"/>
          </p:cNvCxnSpPr>
          <p:nvPr/>
        </p:nvCxnSpPr>
        <p:spPr>
          <a:xfrm xmlns:a="http://schemas.openxmlformats.org/drawingml/2006/main" flipV="1">
            <a:off x="5896946" y="2610821"/>
            <a:ext cx="1407758" cy="8743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55" name=""/>
          <p:cNvCxnSpPr>
            <a:stCxn xmlns:a="http://schemas.openxmlformats.org/drawingml/2006/main" id="4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968365" y="3657600"/>
            <a:ext cx="294132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56" name=""/>
          <p:cNvCxnSpPr>
            <a:stCxn xmlns:a="http://schemas.openxmlformats.org/drawingml/2006/main" id="4" idx="5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896946" y="3830021"/>
            <a:ext cx="2360258" cy="11791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57" name=""/>
          <p:cNvCxnSpPr>
            <a:stCxn xmlns:a="http://schemas.openxmlformats.org/drawingml/2006/main" id="4" idx="5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896946" y="3830021"/>
            <a:ext cx="551479" cy="110773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58" name=""/>
          <p:cNvCxnSpPr>
            <a:stCxn xmlns:a="http://schemas.openxmlformats.org/drawingml/2006/main" id="6" idx="5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649546" y="2610821"/>
            <a:ext cx="1331558" cy="9886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59" name=""/>
          <p:cNvCxnSpPr>
            <a:stCxn xmlns:a="http://schemas.openxmlformats.org/drawingml/2006/main" id="6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7477125" y="2682240"/>
            <a:ext cx="952500" cy="225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60" name=""/>
          <p:cNvCxnSpPr>
            <a:stCxn xmlns:a="http://schemas.openxmlformats.org/drawingml/2006/main" id="6" idx="4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6448425" y="2682240"/>
            <a:ext cx="1028700" cy="225552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61" name=""/>
          <p:cNvCxnSpPr>
            <a:stCxn xmlns:a="http://schemas.openxmlformats.org/drawingml/2006/main" id="8" idx="3"/>
            <a:endCxn xmlns:a="http://schemas.openxmlformats.org/drawingml/2006/main" id="10" idx="7"/>
          </p:cNvCxnSpPr>
          <p:nvPr/>
        </p:nvCxnSpPr>
        <p:spPr>
          <a:xfrm xmlns:a="http://schemas.openxmlformats.org/drawingml/2006/main" flipH="1">
            <a:off x="8602046" y="3944321"/>
            <a:ext cx="379058" cy="10648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62" name=""/>
          <p:cNvCxnSpPr>
            <a:stCxn xmlns:a="http://schemas.openxmlformats.org/drawingml/2006/main" id="8" idx="3"/>
            <a:endCxn xmlns:a="http://schemas.openxmlformats.org/drawingml/2006/main" id="12" idx="7"/>
          </p:cNvCxnSpPr>
          <p:nvPr/>
        </p:nvCxnSpPr>
        <p:spPr>
          <a:xfrm xmlns:a="http://schemas.openxmlformats.org/drawingml/2006/main" flipH="1">
            <a:off x="6620846" y="3944321"/>
            <a:ext cx="2360258" cy="106485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63" name=""/>
          <p:cNvCxnSpPr>
            <a:stCxn xmlns:a="http://schemas.openxmlformats.org/drawingml/2006/main" id="10" idx="2"/>
            <a:endCxn xmlns:a="http://schemas.openxmlformats.org/drawingml/2006/main" id="12" idx="6"/>
          </p:cNvCxnSpPr>
          <p:nvPr/>
        </p:nvCxnSpPr>
        <p:spPr>
          <a:xfrm xmlns:a="http://schemas.openxmlformats.org/drawingml/2006/main" flipH="1">
            <a:off x="6692265" y="5181600"/>
            <a:ext cx="149352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306006-4E40-460C-A470-7CB23D12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945" y="351282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9C718-9582-4A83-9F2D-708FDF44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5145" y="4183380"/>
            <a:ext cx="120396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TrueSelf local</a:t>
            </a:r>
          </a:p>
        </p:txBody>
      </p:sp>
      <p:cxnSp>
        <p:nvCxnSpPr>
          <p:cNvPr id="66" name=""/>
          <p:cNvCxnSpPr>
            <a:stCxn xmlns:a="http://schemas.openxmlformats.org/drawingml/2006/main" id="4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5968365" y="3657600"/>
            <a:ext cx="121158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67" name=""/>
          <p:cNvCxnSpPr>
            <a:stCxn xmlns:a="http://schemas.openxmlformats.org/drawingml/2006/main" id="6" idx="4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7477125" y="2682240"/>
            <a:ext cx="0" cy="83058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68" name=""/>
          <p:cNvCxnSpPr>
            <a:stCxn xmlns:a="http://schemas.openxmlformats.org/drawingml/2006/main" id="8" idx="2"/>
            <a:endCxn xmlns:a="http://schemas.openxmlformats.org/drawingml/2006/main" id="24" idx="6"/>
          </p:cNvCxnSpPr>
          <p:nvPr/>
        </p:nvCxnSpPr>
        <p:spPr>
          <a:xfrm xmlns:a="http://schemas.openxmlformats.org/drawingml/2006/main" flipH="1">
            <a:off x="7774305" y="3771900"/>
            <a:ext cx="113538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69" name=""/>
          <p:cNvCxnSpPr>
            <a:stCxn xmlns:a="http://schemas.openxmlformats.org/drawingml/2006/main" id="10" idx="1"/>
            <a:endCxn xmlns:a="http://schemas.openxmlformats.org/drawingml/2006/main" id="24" idx="5"/>
          </p:cNvCxnSpPr>
          <p:nvPr/>
        </p:nvCxnSpPr>
        <p:spPr>
          <a:xfrm xmlns:a="http://schemas.openxmlformats.org/drawingml/2006/main" flipH="1" flipV="1">
            <a:off x="7687263" y="4020138"/>
            <a:ext cx="569941" cy="98904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70" name=""/>
          <p:cNvCxnSpPr>
            <a:stCxn xmlns:a="http://schemas.openxmlformats.org/drawingml/2006/main" id="12" idx="7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V="1">
            <a:off x="6620846" y="4020138"/>
            <a:ext cx="646141" cy="98904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71" name=""/>
          <p:cNvCxnSpPr>
            <a:stCxn xmlns:a="http://schemas.openxmlformats.org/drawingml/2006/main" id="4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5968365" y="3657600"/>
            <a:ext cx="121158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6B5F"/>
            </a:solidFill>
            <a:prstDash val="solid"/>
          </a:ln>
        </p:spPr>
      </p:cxnSp>
      <p:cxnSp>
        <p:nvCxnSpPr>
          <p:cNvPr id="72" name=""/>
          <p:cNvCxnSpPr>
            <a:stCxn xmlns:a="http://schemas.openxmlformats.org/drawingml/2006/main" id="6" idx="4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7477125" y="2682240"/>
            <a:ext cx="0" cy="83058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6B5F"/>
            </a:solidFill>
            <a:prstDash val="solid"/>
          </a:ln>
        </p:spPr>
      </p:cxnSp>
      <p:cxnSp>
        <p:nvCxnSpPr>
          <p:cNvPr id="73" name=""/>
          <p:cNvCxnSpPr>
            <a:stCxn xmlns:a="http://schemas.openxmlformats.org/drawingml/2006/main" id="8" idx="2"/>
            <a:endCxn xmlns:a="http://schemas.openxmlformats.org/drawingml/2006/main" id="24" idx="6"/>
          </p:cNvCxnSpPr>
          <p:nvPr/>
        </p:nvCxnSpPr>
        <p:spPr>
          <a:xfrm xmlns:a="http://schemas.openxmlformats.org/drawingml/2006/main" flipH="1">
            <a:off x="7774305" y="3771900"/>
            <a:ext cx="1135380" cy="3810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6B5F"/>
            </a:solidFill>
            <a:prstDash val="solid"/>
          </a:ln>
        </p:spPr>
      </p:cxnSp>
      <p:cxnSp>
        <p:nvCxnSpPr>
          <p:cNvPr id="74" name=""/>
          <p:cNvCxnSpPr>
            <a:stCxn xmlns:a="http://schemas.openxmlformats.org/drawingml/2006/main" id="10" idx="1"/>
            <a:endCxn xmlns:a="http://schemas.openxmlformats.org/drawingml/2006/main" id="24" idx="5"/>
          </p:cNvCxnSpPr>
          <p:nvPr/>
        </p:nvCxnSpPr>
        <p:spPr>
          <a:xfrm xmlns:a="http://schemas.openxmlformats.org/drawingml/2006/main" flipH="1" flipV="1">
            <a:off x="7687263" y="4020138"/>
            <a:ext cx="569941" cy="989041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6B5F"/>
            </a:solidFill>
            <a:prstDash val="solid"/>
          </a:ln>
        </p:spPr>
      </p:cxnSp>
      <p:cxnSp>
        <p:nvCxnSpPr>
          <p:cNvPr id="75" name=""/>
          <p:cNvCxnSpPr>
            <a:stCxn xmlns:a="http://schemas.openxmlformats.org/drawingml/2006/main" id="12" idx="7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V="1">
            <a:off x="6620846" y="4020138"/>
            <a:ext cx="646141" cy="989041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FF6B5F"/>
            </a:solidFill>
            <a:prstDash val="solid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F48F4C-2196-4BCC-9340-C0308473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3714750" cy="17526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2B1720"/>
          </a:solidFill>
          <a:ln xmlns:a="http://schemas.openxmlformats.org/drawingml/2006/main" w="19050">
            <a:solidFill>
              <a:srgbClr val="FF6B5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638DDC-CEE7-4B97-8388-FA6CD39E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EE7DD"/>
                </a:solidFill>
              </a:defRPr>
            </a:pPr>
            <a:r>
              <a:rPr sz="1800" b="1">
                <a:solidFill>
                  <a:srgbClr val="3EE7DD"/>
                </a:solidFill>
              </a:rPr>
              <a:t>Zψ(t) := embedψ(Pi5ψ(t))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B604C2A-A4EF-465D-A13E-DCBE449C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5F"/>
                </a:solidFill>
              </a:defRPr>
            </a:pPr>
            <a:r>
              <a:rPr sz="1875" b="1">
                <a:solidFill>
                  <a:srgbClr val="FF6B5F"/>
                </a:solidFill>
              </a:rPr>
              <a:t>Tauψ(t) := tensionψ(Zψ(t), Gψ(t))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7E8CD28-778E-4445-8E39-2F15232C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7FB"/>
                </a:solidFill>
              </a:defRPr>
            </a:pPr>
            <a:r>
              <a:rPr sz="1350" b="0">
                <a:solidFill>
                  <a:srgbClr val="F4F7FB"/>
                </a:solidFill>
              </a:rPr>
              <a:t>Una sola fuente de cómputo.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9E58A2-BF1F-4A5E-A49B-F5607585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809E"/>
                </a:solidFill>
              </a:defRPr>
            </a:pPr>
            <a:r>
              <a:rPr sz="900" b="0">
                <a:solidFill>
                  <a:srgbClr val="64809E"/>
                </a:solidFill>
              </a:rPr>
              <a:t>MOC · Pentacoron experiencial · 04</a:t>
            </a:r>
          </a:p>
        </p:txBody>
      </p:sp>
    </p:spTree>
    <p:extLst>
      <p:ext uri="{BB962C8B-B14F-4D97-AF65-F5344CB8AC3E}">
        <p14:creationId xmlns:p14="http://schemas.microsoft.com/office/powerpoint/2010/main" val="6666734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12FC14-8EB8-436C-B8A5-EE506834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E7DD"/>
                </a:solidFill>
              </a:defRPr>
            </a:pPr>
            <a:r>
              <a:rPr sz="1050" b="1">
                <a:solidFill>
                  <a:srgbClr val="3EE7DD"/>
                </a:solidFill>
              </a:rPr>
              <a:t>EVALUACIÓN SEPARADA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7D96E-B51C-4486-9D26-74DAA11D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Phiψ evalúa; Gψ no evalúa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31BB7-481E-46B3-856A-EE218060B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2C8"/>
                </a:solidFill>
              </a:defRPr>
            </a:pPr>
            <a:r>
              <a:rPr sz="1425" b="0">
                <a:solidFill>
                  <a:srgbClr val="9FB2C8"/>
                </a:solidFill>
              </a:rPr>
              <a:t>La enmienda separa el punto integrador del operador que produce un resultado relacional.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CFBB6-C16E-4097-93A6-F3727C62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2000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9A9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Pi5ψ(t)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configuración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D735B-D2A4-4A5B-A434-5AE89D11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0"/>
            <a:ext cx="2000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53DF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Gψ(t)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TrueSelf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88784-ADD9-4B47-9FD9-D4451E96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FFCA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Phiψ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evaluador formal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74A71-2D3F-408F-A975-FB26F18E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2857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FF6B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Rψ_v2(t)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Tau · dictamen · feedback</a:t>
            </a:r>
          </a:p>
        </p:txBody>
      </p: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647950" y="3171825"/>
            <a:ext cx="173355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A9FF"/>
            </a:solidFill>
            <a:prstDash val="solid"/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647950" y="3724275"/>
            <a:ext cx="173355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DF91"/>
            </a:solidFill>
            <a:prstDash val="solid"/>
            <a:tailEnd type="triangle" w="med" len="med"/>
          </a:ln>
        </p:spPr>
      </p:cxnSp>
      <p:cxnSp>
        <p:nvCxnSpPr>
          <p:cNvPr id="22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667500" y="3724275"/>
            <a:ext cx="17907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A52"/>
            </a:solidFill>
            <a:prstDash val="solid"/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8D357-148F-4D50-823B-D8C42625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38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Phiψ(Pi5ψ(t), Gψ(t)) → Rψ_v2(t)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575ABC-20B4-41A4-98F0-D93BE111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809E"/>
                </a:solidFill>
              </a:defRPr>
            </a:pPr>
            <a:r>
              <a:rPr sz="900" b="0">
                <a:solidFill>
                  <a:srgbClr val="64809E"/>
                </a:solidFill>
              </a:rPr>
              <a:t>MOC · Pentacoron experiencial · 05</a:t>
            </a:r>
          </a:p>
        </p:txBody>
      </p:sp>
    </p:spTree>
    <p:extLst>
      <p:ext uri="{BB962C8B-B14F-4D97-AF65-F5344CB8AC3E}">
        <p14:creationId xmlns:p14="http://schemas.microsoft.com/office/powerpoint/2010/main" val="15294540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8D11F-45F9-4773-AA4E-A6800155E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E7DD"/>
                </a:solidFill>
              </a:defRPr>
            </a:pPr>
            <a:r>
              <a:rPr sz="1050" b="1">
                <a:solidFill>
                  <a:srgbClr val="3EE7DD"/>
                </a:solidFill>
              </a:rPr>
              <a:t>LOOP BASAL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C0011-4B04-41C2-9765-EFD0B743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La experiencia puede reorganizarse sin Xiψ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362CB0-BADC-4F1E-A2B3-D47FCC07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2C8"/>
                </a:solidFill>
              </a:defRPr>
            </a:pPr>
            <a:r>
              <a:rPr sz="1425" b="0">
                <a:solidFill>
                  <a:srgbClr val="9FB2C8"/>
                </a:solidFill>
              </a:rPr>
              <a:t>El loop horizontal omite la descomposición activa, pero conserva la evaluación Phiψ.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06C35-671D-42F8-83FB-3C9EDC54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48000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9A9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Ωψ(t)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experiencia actual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2F9196-5C8A-4C5C-8D92-CA19E6E0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EE7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Pi5ψ(t)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configuración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427E6-2127-42EA-84E7-A779FAFC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048000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FFCA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Phiψ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evalúa con Gψ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546BF9-02E3-4EFF-811E-6DBC6A57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53DF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feedbackψ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salida de Phiψ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A5517-36F8-41D5-8B01-F89D5CF8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48000"/>
            <a:ext cx="1524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FF6B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Ωψ(t+1)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nueva experiencia</a:t>
            </a:r>
          </a:p>
        </p:txBody>
      </p:sp>
      <p:cxnSp>
        <p:nvCxnSpPr>
          <p:cNvPr id="23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333625" y="34385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A9FF"/>
            </a:solidFill>
            <a:prstDash val="solid"/>
            <a:tailEnd type="triangle" w="med" len="med"/>
          </a:ln>
        </p:spPr>
      </p:cxnSp>
      <p:cxnSp>
        <p:nvCxnSpPr>
          <p:cNvPr id="2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34385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EE7DD"/>
            </a:solidFill>
            <a:prstDash val="solid"/>
            <a:tailEnd type="triangle" w="med" len="med"/>
          </a:ln>
        </p:spPr>
      </p:cxnSp>
      <p:cxnSp>
        <p:nvCxnSpPr>
          <p:cNvPr id="2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91375" y="34385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A52"/>
            </a:solidFill>
            <a:prstDash val="solid"/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34385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3DF91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F4FBD9-B33C-4C6E-A74B-2AA42C60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7625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automático ≠ sin evaluación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39DACA-C79A-4B7D-A6D7-3244D8A6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809E"/>
                </a:solidFill>
              </a:defRPr>
            </a:pPr>
            <a:r>
              <a:rPr sz="900" b="0">
                <a:solidFill>
                  <a:srgbClr val="64809E"/>
                </a:solidFill>
              </a:rPr>
              <a:t>MOC · Pentacoron experiencial · 06</a:t>
            </a:r>
          </a:p>
        </p:txBody>
      </p:sp>
    </p:spTree>
    <p:extLst>
      <p:ext uri="{BB962C8B-B14F-4D97-AF65-F5344CB8AC3E}">
        <p14:creationId xmlns:p14="http://schemas.microsoft.com/office/powerpoint/2010/main" val="322230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57270A-06E9-400E-897F-11203BDF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E7DD"/>
                </a:solidFill>
              </a:defRPr>
            </a:pPr>
            <a:r>
              <a:rPr sz="1050" b="1">
                <a:solidFill>
                  <a:srgbClr val="3EE7DD"/>
                </a:solidFill>
              </a:rPr>
              <a:t>LOOP ACTIVO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2C275C-3289-446A-9400-D3AC590F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Xiψ abre una vía de intervención estructural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F19D2-3A07-46BD-8D8A-4B245B469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2C8"/>
                </a:solidFill>
              </a:defRPr>
            </a:pPr>
            <a:r>
              <a:rPr sz="1425" b="0">
                <a:solidFill>
                  <a:srgbClr val="9FB2C8"/>
                </a:solidFill>
              </a:rPr>
              <a:t>Cuando la configuración se vuelve operable, Cψ conserva agencia y las herramientas de poder habilitan ajustes.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A295C-DEFF-4980-8B75-CEE3283F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76500"/>
            <a:ext cx="1714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9A9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Ωψ(t)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unidad de estudio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61BFA-F389-4929-93B8-499A0D75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476500"/>
            <a:ext cx="1619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FF6B5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Xiψ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descompone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44126-B372-45BC-9A58-6895A3E7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3EE7D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Pi5ψ(t)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configuración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D9B61-81C9-4A0D-8BF7-5832DF336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FFCA5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Phiψ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→ Rψ_v2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F659F2-8949-4EC3-AC8F-F9C4C91C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27622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53DF9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Cψ + poder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parar · evaluar · elegir · Aexp</a:t>
            </a:r>
          </a:p>
        </p:txBody>
      </p: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095500" y="28670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9A9FF"/>
            </a:solidFill>
            <a:prstDash val="solid"/>
            <a:tailEnd type="triangle" w="med" len="med"/>
          </a:ln>
        </p:spPr>
      </p:cxn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048125" y="28670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6B5F"/>
            </a:solidFill>
            <a:prstDash val="solid"/>
            <a:tailEnd type="triangle" w="med" len="med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191250" y="28670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EE7DD"/>
            </a:solidFill>
            <a:prstDash val="solid"/>
            <a:tailEnd type="triangle" w="med" len="med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334375" y="2867025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FCA52"/>
            </a:solidFill>
            <a:prstDash val="solid"/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D1B2B-299A-4F49-8126-850C0995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24765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263D"/>
          </a:solidFill>
          <a:ln xmlns:a="http://schemas.openxmlformats.org/drawingml/2006/main" w="19050">
            <a:solidFill>
              <a:srgbClr val="B779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Ωψ(t+1)</a:t>
            </a:r>
          </a:p>
          <a:p xmlns:a="http://schemas.openxmlformats.org/drawingml/2006/main">
            <a:pPr algn="ctr">
              <a:defRPr sz="1500" b="1">
                <a:solidFill>
                  <a:srgbClr val="F4F7FB"/>
                </a:solidFill>
              </a:defRPr>
            </a:pPr>
            <a:r>
              <a:rPr sz="1500" b="1">
                <a:solidFill>
                  <a:srgbClr val="F4F7FB"/>
                </a:solidFill>
              </a:rPr>
              <a:t>ajuste sin garantía externa</a:t>
            </a:r>
          </a:p>
        </p:txBody>
      </p:sp>
      <p:cxnSp>
        <p:nvCxnSpPr>
          <p:cNvPr id="30" name=""/>
          <p:cNvCxnSpPr>
            <a:stCxn xmlns:a="http://schemas.openxmlformats.org/drawingml/2006/main" id="8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rot="5400000">
            <a:off x="6905625" y="3390900"/>
            <a:ext cx="2286000" cy="123825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38100">
            <a:solidFill>
              <a:srgbClr val="53DF91"/>
            </a:solidFill>
            <a:prstDash val="solid"/>
            <a:tailEnd type="triangle" w="med" len="med"/>
          </a:ln>
        </p:spPr>
      </p:cxnSp>
      <p:cxnSp>
        <p:nvCxnSpPr>
          <p:cNvPr id="31" name=""/>
          <p:cNvCxnSpPr>
            <a:stCxn xmlns:a="http://schemas.openxmlformats.org/drawingml/2006/main" id="13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rot="16200000" flipH="1">
            <a:off x="2381250" y="2581275"/>
            <a:ext cx="2286000" cy="28575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B779FF"/>
            </a:solidFill>
            <a:prstDash val="solid"/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E2701C-BC1C-46AC-A852-52BA7D64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809E"/>
                </a:solidFill>
              </a:defRPr>
            </a:pPr>
            <a:r>
              <a:rPr sz="900" b="0">
                <a:solidFill>
                  <a:srgbClr val="64809E"/>
                </a:solidFill>
              </a:rPr>
              <a:t>MOC · Pentacoron experiencial · 07</a:t>
            </a:r>
          </a:p>
        </p:txBody>
      </p:sp>
    </p:spTree>
    <p:extLst>
      <p:ext uri="{BB962C8B-B14F-4D97-AF65-F5344CB8AC3E}">
        <p14:creationId xmlns:p14="http://schemas.microsoft.com/office/powerpoint/2010/main" val="15824100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BBF7E9-88E4-40C1-AA00-324A5225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E7DD"/>
                </a:solidFill>
              </a:defRPr>
            </a:pPr>
            <a:r>
              <a:rPr sz="1050" b="1">
                <a:solidFill>
                  <a:srgbClr val="3EE7DD"/>
                </a:solidFill>
              </a:rPr>
              <a:t>PROYECCIÓN 4D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CC293B-8287-4941-90B5-6E5F3DD9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Lo que vemos es una sombra informativa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42146-6A0A-4513-B57A-4835BEC6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2C8"/>
                </a:solidFill>
              </a:defRPr>
            </a:pPr>
            <a:r>
              <a:rPr sz="1425" b="0">
                <a:solidFill>
                  <a:srgbClr val="9FB2C8"/>
                </a:solidFill>
              </a:rPr>
              <a:t>Rotación, capas y rastros permiten estudiar relaciones que una vista plana oculta.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b5a891c684b5c"/>
          <a:stretch xmlns:a="http://schemas.openxmlformats.org/drawingml/2006/main"/>
        </p:blipFill>
        <p:spPr>
          <a:xfrm xmlns:a="http://schemas.openxmlformats.org/drawingml/2006/main">
            <a:off x="4857750" y="1737287"/>
            <a:ext cx="6858000" cy="385967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296243-91A3-4047-84E8-1F3C3E3B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No afirmamos “ver” 4D.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D40042-B9EF-4803-80AF-A625DE44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3714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FB2C8"/>
                </a:solidFill>
              </a:defRPr>
            </a:pPr>
            <a:r>
              <a:rPr sz="1725" b="0">
                <a:solidFill>
                  <a:srgbClr val="9FB2C8"/>
                </a:solidFill>
              </a:rPr>
              <a:t>Representamos una estructura 4D mediante múltiples proyecciones coherentes. Cambiar la orientación revela relaciones distintas sin cambiar el objeto formal.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C80BAE-9309-491C-96A5-10A94EC6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0537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6B5F"/>
                </a:solidFill>
              </a:defRPr>
            </a:pPr>
            <a:r>
              <a:rPr sz="1875" b="1">
                <a:solidFill>
                  <a:srgbClr val="FF6B5F"/>
                </a:solidFill>
              </a:rPr>
              <a:t>proyección ≠ objeto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D7A8D-5B8D-411A-835F-1D0747EE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809E"/>
                </a:solidFill>
              </a:defRPr>
            </a:pPr>
            <a:r>
              <a:rPr sz="900" b="0">
                <a:solidFill>
                  <a:srgbClr val="64809E"/>
                </a:solidFill>
              </a:rPr>
              <a:t>MOC · Pentacoron experiencial · 08</a:t>
            </a:r>
          </a:p>
        </p:txBody>
      </p:sp>
    </p:spTree>
    <p:extLst>
      <p:ext uri="{BB962C8B-B14F-4D97-AF65-F5344CB8AC3E}">
        <p14:creationId xmlns:p14="http://schemas.microsoft.com/office/powerpoint/2010/main" val="391242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EEE0B0-3DEC-4507-90BE-37B76C06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EE7DD"/>
                </a:solidFill>
              </a:defRPr>
            </a:pPr>
            <a:r>
              <a:rPr sz="1050" b="1">
                <a:solidFill>
                  <a:srgbClr val="3EE7DD"/>
                </a:solidFill>
              </a:rPr>
              <a:t>LECTURA COMPLETA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BA409-B0C8-4733-BDDA-5BED520D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7FB"/>
                </a:solidFill>
              </a:defRPr>
            </a:pPr>
            <a:r>
              <a:rPr sz="2700" b="1">
                <a:solidFill>
                  <a:srgbClr val="F4F7FB"/>
                </a:solidFill>
              </a:rPr>
              <a:t>Un centro, un evaluador y dos vías de reorganización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F75D9-D575-48C4-9E98-0744D9EC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FB2C8"/>
                </a:solidFill>
              </a:defRPr>
            </a:pPr>
            <a:r>
              <a:rPr sz="1425" b="0">
                <a:solidFill>
                  <a:srgbClr val="9FB2C8"/>
                </a:solidFill>
              </a:rPr>
              <a:t>La arquitectura conserva tipos separados y evita convertir resultados locales en etiquetas de identidad.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8431E-F899-40D5-BEE0-1A251AFBD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249" y="3267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2C71B-57FF-452C-9B86-5FF54FA9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959" y="22307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78" name=""/>
          <p:cNvCxnSpPr>
            <a:stCxn xmlns:a="http://schemas.openxmlformats.org/drawingml/2006/main" id="4" idx="7"/>
            <a:endCxn xmlns:a="http://schemas.openxmlformats.org/drawingml/2006/main" id="5" idx="3"/>
          </p:cNvCxnSpPr>
          <p:nvPr/>
        </p:nvCxnSpPr>
        <p:spPr>
          <a:xfrm xmlns:a="http://schemas.openxmlformats.org/drawingml/2006/main" flipV="1">
            <a:off x="6994030" y="2279536"/>
            <a:ext cx="1449299" cy="99590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8907B-426C-4BA6-88C4-3360CD331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249" y="3267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88967-70AE-4803-B6A9-CBFC4363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899" y="336423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7002399" y="3295650"/>
            <a:ext cx="2857500" cy="9715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DA078-AD6D-40E9-BDBC-60CE90FF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249" y="3267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E0656C-6AB2-4FC4-A85D-649930DD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4562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4" name=""/>
          <p:cNvCxnSpPr>
            <a:stCxn xmlns:a="http://schemas.openxmlformats.org/drawingml/2006/main" id="10" idx="5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94030" y="3315856"/>
            <a:ext cx="2258924" cy="125498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46C357-1C64-42D8-8FFB-21984991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5249" y="32670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7CC96-C16A-4CD3-9610-3165E171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564" y="4562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87" name=""/>
          <p:cNvCxnSpPr>
            <a:stCxn xmlns:a="http://schemas.openxmlformats.org/drawingml/2006/main" id="13" idx="5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994030" y="3315856"/>
            <a:ext cx="574904" cy="1254989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D608AB-F9E8-43F5-9618-67948570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959" y="22307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58A0F-BB4A-4163-A1ED-C47D5AC0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899" y="336423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0" name=""/>
          <p:cNvCxnSpPr>
            <a:stCxn xmlns:a="http://schemas.openxmlformats.org/drawingml/2006/main" id="16" idx="5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483740" y="2279536"/>
            <a:ext cx="1384529" cy="109306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6C3B3-C507-42C0-9DF5-F9E3ACCE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959" y="22307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E99C8-FC07-427E-8409-23A77AEA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4562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3" name=""/>
          <p:cNvCxnSpPr>
            <a:stCxn xmlns:a="http://schemas.openxmlformats.org/drawingml/2006/main" id="19" idx="4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463534" y="2287905"/>
            <a:ext cx="809625" cy="227457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1265E-C6A3-4FCA-BF48-4BE2A452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4959" y="223075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D45F6-74F5-40AD-B8C5-392081B3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564" y="4562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6" name=""/>
          <p:cNvCxnSpPr>
            <a:stCxn xmlns:a="http://schemas.openxmlformats.org/drawingml/2006/main" id="22" idx="4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7589139" y="2287905"/>
            <a:ext cx="874395" cy="227457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732B3-15AE-4F50-BB25-86360D38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899" y="336423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594852-697C-49DB-9CBA-94B305EB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4562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99" name=""/>
          <p:cNvCxnSpPr>
            <a:stCxn xmlns:a="http://schemas.openxmlformats.org/drawingml/2006/main" id="25" idx="3"/>
            <a:endCxn xmlns:a="http://schemas.openxmlformats.org/drawingml/2006/main" id="26" idx="7"/>
          </p:cNvCxnSpPr>
          <p:nvPr/>
        </p:nvCxnSpPr>
        <p:spPr>
          <a:xfrm xmlns:a="http://schemas.openxmlformats.org/drawingml/2006/main" flipH="1">
            <a:off x="9293365" y="3413011"/>
            <a:ext cx="574904" cy="115783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F7A5B2-0724-4178-9B9F-558F9803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899" y="336423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00E8DC-4DFA-4E79-920C-5DB503C1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564" y="4562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2" name=""/>
          <p:cNvCxnSpPr>
            <a:stCxn xmlns:a="http://schemas.openxmlformats.org/drawingml/2006/main" id="28" idx="3"/>
            <a:endCxn xmlns:a="http://schemas.openxmlformats.org/drawingml/2006/main" id="29" idx="7"/>
          </p:cNvCxnSpPr>
          <p:nvPr/>
        </p:nvCxnSpPr>
        <p:spPr>
          <a:xfrm xmlns:a="http://schemas.openxmlformats.org/drawingml/2006/main" flipH="1">
            <a:off x="7609345" y="3413011"/>
            <a:ext cx="2258924" cy="1157834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A79B70-3E5C-4824-9781-9B41FEAB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4562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DDF6C8-CE6C-4E1B-B3FD-4092DDC35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564" y="45624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47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105" name=""/>
          <p:cNvCxnSpPr>
            <a:stCxn xmlns:a="http://schemas.openxmlformats.org/drawingml/2006/main" id="31" idx="2"/>
            <a:endCxn xmlns:a="http://schemas.openxmlformats.org/drawingml/2006/main" id="32" idx="6"/>
          </p:cNvCxnSpPr>
          <p:nvPr/>
        </p:nvCxnSpPr>
        <p:spPr>
          <a:xfrm xmlns:a="http://schemas.openxmlformats.org/drawingml/2006/main" flipH="1">
            <a:off x="7617714" y="4591050"/>
            <a:ext cx="162687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9445E"/>
            </a:solidFill>
            <a:prstDash val="soli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2DECC6-06BE-4FE3-A76A-883A3890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4526" y="3282696"/>
            <a:ext cx="414528" cy="4145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E7D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5B694C-F72A-43C2-85D2-648F45EF1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726" y="3773424"/>
            <a:ext cx="10241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perspectiva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D32942-130C-41DF-9CF3-90C1E412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236" y="2246376"/>
            <a:ext cx="414528" cy="4145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A9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686C17-BC8D-469F-99C6-14DBFE3F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436" y="2737104"/>
            <a:ext cx="10241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clima afectivo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20B537C-BD3E-4AD5-93BA-59C451CB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3379851"/>
            <a:ext cx="414528" cy="4145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A5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5ABE28-CEC5-4824-B292-7B98543A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4376" y="3870579"/>
            <a:ext cx="10241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acción interna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EEF21C-9E8B-424B-8534-1D166C8C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3861" y="4578096"/>
            <a:ext cx="414528" cy="4145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V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EF11A7-AA24-4ECB-B1C5-94B57457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061" y="5068824"/>
            <a:ext cx="10241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valor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2DAB4A-03FE-4640-9223-62FB5D17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9841" y="4578096"/>
            <a:ext cx="414528" cy="4145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E7842FB-5374-4AE9-8036-F7D7DB5C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5041" y="5068824"/>
            <a:ext cx="102412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situación</a:t>
            </a:r>
          </a:p>
        </p:txBody>
      </p:sp>
      <p:cxnSp>
        <p:nvCxnSpPr>
          <p:cNvPr id="116" name=""/>
          <p:cNvCxnSpPr>
            <a:stCxn xmlns:a="http://schemas.openxmlformats.org/drawingml/2006/main" id="34" idx="7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V="1">
            <a:off x="6848348" y="2600198"/>
            <a:ext cx="1196594" cy="74320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17" name=""/>
          <p:cNvCxnSpPr>
            <a:stCxn xmlns:a="http://schemas.openxmlformats.org/drawingml/2006/main" id="34" idx="6"/>
            <a:endCxn xmlns:a="http://schemas.openxmlformats.org/drawingml/2006/main" id="38" idx="2"/>
          </p:cNvCxnSpPr>
          <p:nvPr/>
        </p:nvCxnSpPr>
        <p:spPr>
          <a:xfrm xmlns:a="http://schemas.openxmlformats.org/drawingml/2006/main">
            <a:off x="6909054" y="3489960"/>
            <a:ext cx="2500122" cy="9715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18" name=""/>
          <p:cNvCxnSpPr>
            <a:stCxn xmlns:a="http://schemas.openxmlformats.org/drawingml/2006/main" id="34" idx="5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6848348" y="3636518"/>
            <a:ext cx="2006219" cy="1002284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19" name=""/>
          <p:cNvCxnSpPr>
            <a:stCxn xmlns:a="http://schemas.openxmlformats.org/drawingml/2006/main" id="34" idx="4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6701790" y="3697224"/>
            <a:ext cx="468757" cy="94157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20" name=""/>
          <p:cNvCxnSpPr>
            <a:stCxn xmlns:a="http://schemas.openxmlformats.org/drawingml/2006/main" id="36" idx="5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8338058" y="2600198"/>
            <a:ext cx="1131824" cy="84035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21" name=""/>
          <p:cNvCxnSpPr>
            <a:stCxn xmlns:a="http://schemas.openxmlformats.org/drawingml/2006/main" id="36" idx="4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8191500" y="2660904"/>
            <a:ext cx="809625" cy="191719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22" name=""/>
          <p:cNvCxnSpPr>
            <a:stCxn xmlns:a="http://schemas.openxmlformats.org/drawingml/2006/main" id="36" idx="4"/>
            <a:endCxn xmlns:a="http://schemas.openxmlformats.org/drawingml/2006/main" id="42" idx="0"/>
          </p:cNvCxnSpPr>
          <p:nvPr/>
        </p:nvCxnSpPr>
        <p:spPr>
          <a:xfrm xmlns:a="http://schemas.openxmlformats.org/drawingml/2006/main" flipH="1">
            <a:off x="7317105" y="2660904"/>
            <a:ext cx="874395" cy="1917192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23" name=""/>
          <p:cNvCxnSpPr>
            <a:stCxn xmlns:a="http://schemas.openxmlformats.org/drawingml/2006/main" id="38" idx="3"/>
            <a:endCxn xmlns:a="http://schemas.openxmlformats.org/drawingml/2006/main" id="40" idx="7"/>
          </p:cNvCxnSpPr>
          <p:nvPr/>
        </p:nvCxnSpPr>
        <p:spPr>
          <a:xfrm xmlns:a="http://schemas.openxmlformats.org/drawingml/2006/main" flipH="1">
            <a:off x="9147683" y="3733673"/>
            <a:ext cx="322199" cy="90512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24" name=""/>
          <p:cNvCxnSpPr>
            <a:stCxn xmlns:a="http://schemas.openxmlformats.org/drawingml/2006/main" id="38" idx="3"/>
            <a:endCxn xmlns:a="http://schemas.openxmlformats.org/drawingml/2006/main" id="42" idx="7"/>
          </p:cNvCxnSpPr>
          <p:nvPr/>
        </p:nvCxnSpPr>
        <p:spPr>
          <a:xfrm xmlns:a="http://schemas.openxmlformats.org/drawingml/2006/main" flipH="1">
            <a:off x="7463663" y="3733673"/>
            <a:ext cx="2006219" cy="905129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cxnSp>
        <p:nvCxnSpPr>
          <p:cNvPr id="125" name=""/>
          <p:cNvCxnSpPr>
            <a:stCxn xmlns:a="http://schemas.openxmlformats.org/drawingml/2006/main" id="40" idx="2"/>
            <a:endCxn xmlns:a="http://schemas.openxmlformats.org/drawingml/2006/main" id="42" idx="6"/>
          </p:cNvCxnSpPr>
          <p:nvPr/>
        </p:nvCxnSpPr>
        <p:spPr>
          <a:xfrm xmlns:a="http://schemas.openxmlformats.org/drawingml/2006/main" flipH="1">
            <a:off x="7524369" y="4785360"/>
            <a:ext cx="1269492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26987"/>
            </a:solidFill>
            <a:prstDash val="solid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D65E014-FBF0-40CD-A84A-D4528260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8897" y="3366897"/>
            <a:ext cx="505206" cy="5052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71BFFC-0608-4D62-9A55-9EF83A4F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4097" y="3948303"/>
            <a:ext cx="1114806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9FB2C8"/>
                </a:solidFill>
              </a:defRPr>
            </a:pPr>
            <a:r>
              <a:rPr sz="1050" b="0">
                <a:solidFill>
                  <a:srgbClr val="9FB2C8"/>
                </a:solidFill>
              </a:rPr>
              <a:t>TrueSelf local</a:t>
            </a:r>
          </a:p>
        </p:txBody>
      </p:sp>
      <p:cxnSp>
        <p:nvCxnSpPr>
          <p:cNvPr id="128" name=""/>
          <p:cNvCxnSpPr>
            <a:stCxn xmlns:a="http://schemas.openxmlformats.org/drawingml/2006/main" id="34" idx="6"/>
            <a:endCxn xmlns:a="http://schemas.openxmlformats.org/drawingml/2006/main" id="54" idx="2"/>
          </p:cNvCxnSpPr>
          <p:nvPr/>
        </p:nvCxnSpPr>
        <p:spPr>
          <a:xfrm xmlns:a="http://schemas.openxmlformats.org/drawingml/2006/main">
            <a:off x="6909054" y="3489960"/>
            <a:ext cx="1029843" cy="12954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129" name=""/>
          <p:cNvCxnSpPr>
            <a:stCxn xmlns:a="http://schemas.openxmlformats.org/drawingml/2006/main" id="36" idx="4"/>
            <a:endCxn xmlns:a="http://schemas.openxmlformats.org/drawingml/2006/main" id="54" idx="0"/>
          </p:cNvCxnSpPr>
          <p:nvPr/>
        </p:nvCxnSpPr>
        <p:spPr>
          <a:xfrm xmlns:a="http://schemas.openxmlformats.org/drawingml/2006/main">
            <a:off x="8191500" y="2660904"/>
            <a:ext cx="0" cy="70599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130" name=""/>
          <p:cNvCxnSpPr>
            <a:stCxn xmlns:a="http://schemas.openxmlformats.org/drawingml/2006/main" id="38" idx="2"/>
            <a:endCxn xmlns:a="http://schemas.openxmlformats.org/drawingml/2006/main" id="54" idx="6"/>
          </p:cNvCxnSpPr>
          <p:nvPr/>
        </p:nvCxnSpPr>
        <p:spPr>
          <a:xfrm xmlns:a="http://schemas.openxmlformats.org/drawingml/2006/main" flipH="1">
            <a:off x="8444103" y="3587115"/>
            <a:ext cx="965073" cy="323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131" name=""/>
          <p:cNvCxnSpPr>
            <a:stCxn xmlns:a="http://schemas.openxmlformats.org/drawingml/2006/main" id="40" idx="1"/>
            <a:endCxn xmlns:a="http://schemas.openxmlformats.org/drawingml/2006/main" id="54" idx="5"/>
          </p:cNvCxnSpPr>
          <p:nvPr/>
        </p:nvCxnSpPr>
        <p:spPr>
          <a:xfrm xmlns:a="http://schemas.openxmlformats.org/drawingml/2006/main" flipH="1" flipV="1">
            <a:off x="8370117" y="3798117"/>
            <a:ext cx="484450" cy="8406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cxnSp>
        <p:nvCxnSpPr>
          <p:cNvPr id="132" name=""/>
          <p:cNvCxnSpPr>
            <a:stCxn xmlns:a="http://schemas.openxmlformats.org/drawingml/2006/main" id="42" idx="7"/>
            <a:endCxn xmlns:a="http://schemas.openxmlformats.org/drawingml/2006/main" id="54" idx="3"/>
          </p:cNvCxnSpPr>
          <p:nvPr/>
        </p:nvCxnSpPr>
        <p:spPr>
          <a:xfrm xmlns:a="http://schemas.openxmlformats.org/drawingml/2006/main" flipV="1">
            <a:off x="7463663" y="3798117"/>
            <a:ext cx="549220" cy="84068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3DF91"/>
            </a:solidFill>
            <a:prstDash val="solid"/>
          </a:ln>
        </p:spPr>
      </p:cxn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5FB6FF2-23BD-4DEF-95BF-1A9BB9859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1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154B5C9-1CFA-46A0-870C-484A6843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478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</a:defRPr>
            </a:pPr>
            <a:r>
              <a:rPr sz="1575" b="0">
                <a:solidFill>
                  <a:srgbClr val="F4F7FB"/>
                </a:solidFill>
              </a:rPr>
              <a:t>Pi5ψ organiza cinco componentes de experiencia.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B5E9249-BE93-434E-9493-F2273681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AA789CF-9733-4AE8-B2E9-082E3157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336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</a:defRPr>
            </a:pPr>
            <a:r>
              <a:rPr sz="1575" b="0">
                <a:solidFill>
                  <a:srgbClr val="F4F7FB"/>
                </a:solidFill>
              </a:rPr>
              <a:t>Gψ / TrueSelfψ integra localmente la configuración.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ED24656-82C3-4062-816C-9129AF64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7FDA3C-D037-4CDD-93A3-4A80C9E28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194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</a:defRPr>
            </a:pPr>
            <a:r>
              <a:rPr sz="1575" b="0">
                <a:solidFill>
                  <a:srgbClr val="F4F7FB"/>
                </a:solidFill>
              </a:rPr>
              <a:t>Tauψ expresa tensión estructural, no diagnóstico.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D582086-DDC2-417E-ACD3-24F214B1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C7B13B-821B-442F-A847-08B8854F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052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7FB"/>
                </a:solidFill>
              </a:defRPr>
            </a:pPr>
            <a:r>
              <a:rPr sz="1575" b="1">
                <a:solidFill>
                  <a:srgbClr val="F4F7FB"/>
                </a:solidFill>
              </a:rPr>
              <a:t>Phiψ produce Rψ_v2; no es idéntico a Gψ.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7366E7C-99C4-4105-82F7-677445BD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3DF91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</a:defRPr>
            </a:pPr>
            <a:r>
              <a:rPr sz="1650" b="1">
                <a:solidFill>
                  <a:srgbClr val="07111F"/>
                </a:solidFill>
              </a:rPr>
              <a:t>5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285BEAD-D509-44EA-A3E9-42BCC464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7910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4F7FB"/>
                </a:solidFill>
              </a:defRPr>
            </a:pPr>
            <a:r>
              <a:rPr sz="1575" b="0">
                <a:solidFill>
                  <a:srgbClr val="F4F7FB"/>
                </a:solidFill>
              </a:rPr>
              <a:t>El loop basal conserva Phi; el activo incorpora Xiψ y Cψ.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E44B498-653B-41E3-BD1A-993E51EE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CA52"/>
                </a:solidFill>
              </a:defRPr>
            </a:pPr>
            <a:r>
              <a:rPr sz="1425" b="1">
                <a:solidFill>
                  <a:srgbClr val="FFCA52"/>
                </a:solidFill>
              </a:rPr>
              <a:t>Modelo teórico y experimental no clínico; todavía no validado para diagnóstico o tratamiento.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F96C3A3-8E94-4C9F-8BB1-373F4818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809E"/>
                </a:solidFill>
              </a:defRPr>
            </a:pPr>
            <a:r>
              <a:rPr sz="900" b="0">
                <a:solidFill>
                  <a:srgbClr val="64809E"/>
                </a:solidFill>
              </a:rPr>
              <a:t>MOC · Pentacoron experiencial · 09</a:t>
            </a:r>
          </a:p>
        </p:txBody>
      </p:sp>
    </p:spTree>
    <p:extLst>
      <p:ext uri="{BB962C8B-B14F-4D97-AF65-F5344CB8AC3E}">
        <p14:creationId xmlns:p14="http://schemas.microsoft.com/office/powerpoint/2010/main" val="14974016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2026-08-06T20:10:07.9790000Z</dcterms:created>
  <dcterms:modified xsi:type="dcterms:W3CDTF">2026-08-06T20:10:07.9790000Z</dcterms:modified>
</coreProperties>
</file>